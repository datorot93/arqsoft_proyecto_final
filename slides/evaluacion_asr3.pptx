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/>
          <a:lstStyle/>
          <a:p>
            <a:pPr algn="l"/>
            <a:r>
              <a:rPr sz="2200" b="1">
                <a:solidFill>
                  <a:srgbClr val="FFFFFF"/>
                </a:solidFill>
              </a:rPr>
              <a:t>Encuesta de validación · ASR-3 Facilidad de Integración</a:t>
            </a:r>
          </a:p>
          <a:p>
            <a:pPr algn="l"/>
            <a:r>
              <a:rPr sz="1200" i="1">
                <a:solidFill>
                  <a:srgbClr val="C8D8E8"/>
                </a:solidFill>
              </a:rPr>
              <a:t>Banco Z – Línea Verde · Cómo medimos si el diseño cumple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</a:rPr>
              <a:t>ASR-3 que se está evaluando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463040"/>
            <a:ext cx="11155680" cy="8686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1F4E78"/>
                </a:solidFill>
              </a:rPr>
              <a:t>Línea Verde debe integrarse con sistemas externos de validación y con el core bancario</a:t>
            </a:r>
          </a:p>
          <a:p>
            <a:pPr algn="ctr"/>
            <a:r>
              <a:rPr sz="1100" b="0">
                <a:solidFill>
                  <a:srgbClr val="1F4E78"/>
                </a:solidFill>
              </a:rPr>
              <a:t>para establecer la elegibilidad de Crédito Express de forma automática · meta &lt; 10 minutos.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</a:rPr>
              <a:t>Cómo se mide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3063240"/>
            <a:ext cx="11247120" cy="0"/>
          </a:xfrm>
          <a:prstGeom prst="line">
            <a:avLst/>
          </a:prstGeom>
          <a:ln w="1905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3246120"/>
            <a:ext cx="2606040" cy="50292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 preguntas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22191"/>
            <a:ext cx="2514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12121"/>
                </a:solidFill>
              </a:rPr>
              <a:t>Cubren los 5 focos técnicos:
estándares · desacople · versionado
documentación · acoplamiento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3246120"/>
            <a:ext cx="260604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Escala 1 –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822191"/>
            <a:ext cx="2514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12121"/>
                </a:solidFill>
              </a:rPr>
              <a:t>1 No cumple
3 Cumple parcial
5 Cumple a cabalidad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3246120"/>
            <a:ext cx="2606040" cy="502920"/>
          </a:xfrm>
          <a:prstGeom prst="round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evaluaciones expertas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5" y="3822191"/>
            <a:ext cx="2514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12121"/>
                </a:solidFill>
              </a:rPr>
              <a:t>Aplicada a 2 expertos
de forma independiente
para reducir sesgo individual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3" y="3246120"/>
            <a:ext cx="2606040" cy="502920"/>
          </a:xfrm>
          <a:prstGeom prst="roundRect">
            <a:avLst/>
          </a:prstGeom>
          <a:solidFill>
            <a:srgbClr val="E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Umbral &gt;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3822191"/>
            <a:ext cx="2514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12121"/>
                </a:solidFill>
              </a:rPr>
              <a:t>Promedio ponderado de los 2
expertos debe ser ESTRICTAMENTE
mayor a 4.0 para CUMPLIDO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11155680" cy="96012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67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12121"/>
                </a:solidFill>
              </a:rPr>
              <a:t>Lo que la encuesta NO hace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No reemplaza pruebas funcionales del flujo · No mide latencia (eso lo cubre el experimento ASR-1/ASR-2) · No reabre decisiones ya cerradas con el equipo.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565392"/>
            <a:ext cx="12191695" cy="256032"/>
          </a:xfrm>
          <a:prstGeom prst="rect">
            <a:avLst/>
          </a:prstGeom>
          <a:noFill/>
        </p:spPr>
        <p:txBody>
          <a:bodyPr wrap="none" lIns="411480">
            <a:spAutoFit/>
          </a:bodyPr>
          <a:lstStyle/>
          <a:p>
            <a:pPr algn="l"/>
            <a:r>
              <a:rPr sz="900" i="1">
                <a:solidFill>
                  <a:srgbClr val="90A4AE"/>
                </a:solidFill>
              </a:rPr>
              <a:t>Slide 1 / 3   ·   Encuesta de validación ASR-3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/>
          <a:lstStyle/>
          <a:p>
            <a:pPr algn="l"/>
            <a:r>
              <a:rPr sz="2200" b="1">
                <a:solidFill>
                  <a:srgbClr val="FFFFFF"/>
                </a:solidFill>
              </a:rPr>
              <a:t>Tópicos evaluados</a:t>
            </a:r>
          </a:p>
          <a:p>
            <a:pPr algn="l"/>
            <a:r>
              <a:rPr sz="1200" i="1">
                <a:solidFill>
                  <a:srgbClr val="C8D8E8"/>
                </a:solidFill>
              </a:rPr>
              <a:t>10 dimensiones técnicas · ranking por peso relativo en el ASR-3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0A4AE"/>
                </a:solidFill>
              </a:rPr>
              <a:t>Cada tópico está anclado a componentes específicos del diagrama (ACL, MessageBroker, MotorElegibilidadXPais, etc.) — el experto debe inspeccionar la vista estructural, no opinar en abstracto.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502920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1F4E78"/>
                </a:solidFill>
              </a:rP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1.  Anti-Corruption Layer y desacople semántico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ACL: AdaptadorCore · TraductorDominio · CircuitBreaker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508760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64207"/>
            <a:ext cx="502920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286000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</a:rPr>
              <a:t>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508760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2.  Estándares de comunicación (OpenAPI, AsyncAPI, gRPC)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ApiGateway · CDTXPais · MotorElegibilidadXPais · Broker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77439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32887"/>
            <a:ext cx="502920" cy="621792"/>
          </a:xfrm>
          <a:prstGeom prst="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54679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007C91"/>
                </a:solidFill>
              </a:rPr>
              <a:t>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77439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3.  Asincronía y desacople temporal con el Core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MessageBroker · ChangeDataCapture · CoreBancoZ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377439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532887"/>
            <a:ext cx="502920" cy="621792"/>
          </a:xfrm>
          <a:prstGeom prst="rect">
            <a:avLst/>
          </a:prstGeom>
          <a:solidFill>
            <a:srgbClr val="E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154679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E67622"/>
                </a:solidFill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39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4.  Automatización de elegibilidad bajo SLA &lt; 10 min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CDT → Broker → MotorElegibilidad → CacheDistribuido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505199"/>
            <a:ext cx="502920" cy="5181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23359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6A1B9A"/>
                </a:solidFill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46120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5.  Versionado de eventos y schemas (Schema Registry)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MessageBroker · MotorElegibilidad · DetectorFraude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246120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505199"/>
            <a:ext cx="502920" cy="5181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023359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1F4E78"/>
                </a:solidFill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246120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6.  Integración con proveedores externos heterogéneos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ValidadorIdentidad · ConsultaProveedores · Convenios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114800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477512"/>
            <a:ext cx="502920" cy="4145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92040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</a:rPr>
              <a:t>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14800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7.  Versionado de APIs públicas y compatibilidad atrás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ApiGateway · AplicacionMovil · AplicacionWeb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114800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477512"/>
            <a:ext cx="502920" cy="414528"/>
          </a:xfrm>
          <a:prstGeom prst="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892040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007C91"/>
                </a:solidFill>
              </a:rPr>
              <a:t>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114800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8.  Cohesión interna y bajo acoplamiento entre subsistemas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LineaVerde · Integracion · Datos (bounded contexts)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983479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398007"/>
            <a:ext cx="502920" cy="362712"/>
          </a:xfrm>
          <a:prstGeom prst="rect">
            <a:avLst/>
          </a:prstGeom>
          <a:solidFill>
            <a:srgbClr val="E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760719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E67622"/>
                </a:solidFill>
              </a:rPr>
              <a:t>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983479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 9.  Resiliencia y aislamiento de fallos en la integración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CircuitBreaker · pools acotados · MessageBroker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983479"/>
            <a:ext cx="5029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5449823"/>
            <a:ext cx="502920" cy="31089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760719"/>
            <a:ext cx="50292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b="1">
                <a:solidFill>
                  <a:srgbClr val="6A1B9A"/>
                </a:solidFill>
              </a:rPr>
              <a:t>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983479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656"/>
                </a:solidFill>
              </a:rPr>
              <a:t>10.  Capacidad de evolución multi-país (multi-tenancy)</a:t>
            </a:r>
          </a:p>
          <a:p>
            <a:pPr algn="l"/>
            <a:r>
              <a:rPr sz="900" b="0">
                <a:solidFill>
                  <a:srgbClr val="90A4AE"/>
                </a:solidFill>
              </a:rPr>
              <a:t>Patrón XPais · atributo pais : Pais en clases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6263640"/>
            <a:ext cx="11201400" cy="411480"/>
          </a:xfrm>
          <a:prstGeom prst="roundRect">
            <a:avLst/>
          </a:prstGeom>
          <a:solidFill>
            <a:srgbClr val="ECEFF1"/>
          </a:solidFill>
          <a:ln w="63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0">
                <a:solidFill>
                  <a:srgbClr val="143656"/>
                </a:solidFill>
              </a:rPr>
              <a:t>Cobertura de focos: Estándares · Desacople de interfaces · Versionado · Documentación implícita · Acoplamiento     ·     suma de pesos = 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565392"/>
            <a:ext cx="12191695" cy="256032"/>
          </a:xfrm>
          <a:prstGeom prst="rect">
            <a:avLst/>
          </a:prstGeom>
          <a:noFill/>
        </p:spPr>
        <p:txBody>
          <a:bodyPr wrap="none" lIns="411480">
            <a:spAutoFit/>
          </a:bodyPr>
          <a:lstStyle/>
          <a:p>
            <a:pPr algn="l"/>
            <a:r>
              <a:rPr sz="900" i="1">
                <a:solidFill>
                  <a:srgbClr val="90A4AE"/>
                </a:solidFill>
              </a:rPr>
              <a:t>Slide 2 / 3   ·   Tópicos evaluados — sin texto literal de las preguntas, solo dimensiones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/>
          <a:lstStyle/>
          <a:p>
            <a:pPr algn="l"/>
            <a:r>
              <a:rPr sz="2200" b="1">
                <a:solidFill>
                  <a:srgbClr val="FFFFFF"/>
                </a:solidFill>
              </a:rPr>
              <a:t>Modelo de evaluación con 2 expertos</a:t>
            </a:r>
          </a:p>
          <a:p>
            <a:pPr algn="l"/>
            <a:r>
              <a:rPr sz="1200" i="1">
                <a:solidFill>
                  <a:srgbClr val="C8D8E8"/>
                </a:solidFill>
              </a:rPr>
              <a:t>Cómo se combinan las 2 calificaciones y cuándo el ASR se considera CUMPLIDO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</a:rPr>
              <a:t>Flujo de evaluación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11247120" cy="0"/>
          </a:xfrm>
          <a:prstGeom prst="line">
            <a:avLst/>
          </a:prstGeom>
          <a:ln w="1905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554480"/>
            <a:ext cx="2377440" cy="82296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Experto A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califica las 10 preguntas
de forma independiente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37744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Experto 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califica las 10 preguntas
de forma independiente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1965960"/>
            <a:ext cx="1005840" cy="777240"/>
          </a:xfrm>
          <a:prstGeom prst="line">
            <a:avLst/>
          </a:prstGeom>
          <a:ln w="2540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08960" y="2743200"/>
            <a:ext cx="1005840" cy="274320"/>
          </a:xfrm>
          <a:prstGeom prst="line">
            <a:avLst/>
          </a:prstGeom>
          <a:ln w="2540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0" y="2331720"/>
            <a:ext cx="3291840" cy="868680"/>
          </a:xfrm>
          <a:prstGeom prst="round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Calificación final por pregunta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sᵢ = (sᵢᴬ + sᵢᴮ) / 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06640" y="2743200"/>
            <a:ext cx="685800" cy="0"/>
          </a:xfrm>
          <a:prstGeom prst="line">
            <a:avLst/>
          </a:prstGeom>
          <a:ln w="2540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92440" y="2331720"/>
            <a:ext cx="3611880" cy="868680"/>
          </a:xfrm>
          <a:prstGeom prst="roundRect">
            <a:avLst/>
          </a:prstGeom>
          <a:solidFill>
            <a:srgbClr val="E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Promedio ponderado global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S̄ = Σ ( wᵢ · sᵢ )      con  Σ wᵢ = 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</a:rPr>
              <a:t>Reglas de veredicto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977640"/>
            <a:ext cx="11247120" cy="0"/>
          </a:xfrm>
          <a:prstGeom prst="line">
            <a:avLst/>
          </a:prstGeom>
          <a:ln w="1905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160520"/>
            <a:ext cx="365760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Regla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36592"/>
            <a:ext cx="3520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S̄ &gt; 4.0  →  CUMPLIDO
S̄ ≤ 4.0  →  NO CUMPLIDO
Umbral estricto: 4.0 exacto NO aprueba.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4160520"/>
            <a:ext cx="3657600" cy="502920"/>
          </a:xfrm>
          <a:prstGeom prst="roundRect">
            <a:avLst/>
          </a:prstGeom>
          <a:solidFill>
            <a:srgbClr val="E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Regla de mínimo por dimensión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4736592"/>
            <a:ext cx="3520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Si alguna sᵢ ≤ 2,
NO CUMPLIDO aunque S̄ &gt; 4.0.
Una integración con dimensión
gravemente débil no es compensable.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4160520"/>
            <a:ext cx="365760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Regla de discrepancia entre expertos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4736592"/>
            <a:ext cx="3520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Si |sᵢᴬ − sᵢᴮ| &gt; 1.5
se activa reconciliación:
los dos expertos se reúnen y
entregan una calificación conjunta.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989320"/>
            <a:ext cx="11201400" cy="50292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67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0">
                <a:solidFill>
                  <a:srgbClr val="143656"/>
                </a:solidFill>
              </a:rPr>
              <a:t>Salida del proceso: veredicto + lista de hallazgos · cada calificación ≤ 3 → ticket de rediseño con componente específico del diagrama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65392"/>
            <a:ext cx="12191695" cy="256032"/>
          </a:xfrm>
          <a:prstGeom prst="rect">
            <a:avLst/>
          </a:prstGeom>
          <a:noFill/>
        </p:spPr>
        <p:txBody>
          <a:bodyPr wrap="none" lIns="411480">
            <a:spAutoFit/>
          </a:bodyPr>
          <a:lstStyle/>
          <a:p>
            <a:pPr algn="l"/>
            <a:r>
              <a:rPr sz="900" i="1">
                <a:solidFill>
                  <a:srgbClr val="90A4AE"/>
                </a:solidFill>
              </a:rPr>
              <a:t>Slide 3 / 3   ·   2 expertos × 10 preguntas = 20 calificaciones agregadas en un veredicto auditable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