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/>
          <a:lstStyle/>
          <a:p>
            <a:pPr algn="l"/>
            <a:r>
              <a:rPr sz="2200" b="1">
                <a:solidFill>
                  <a:srgbClr val="FFFFFF"/>
                </a:solidFill>
              </a:rPr>
              <a:t>Experimento de validación · ASR-1 + ASR-2</a:t>
            </a:r>
          </a:p>
          <a:p>
            <a:pPr algn="l"/>
            <a:r>
              <a:rPr sz="1200" i="1">
                <a:solidFill>
                  <a:srgbClr val="C8D8E8"/>
                </a:solidFill>
              </a:rPr>
              <a:t>Banco Z – Línea Verde · Apertura de CDT Digital de Alto Rendimiento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</a:rPr>
              <a:t>Qué se busca probar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554480"/>
            <a:ext cx="5486400" cy="502920"/>
          </a:xfrm>
          <a:prstGeom prst="round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ASR-1  ·  Latencia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5303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Estímulo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Confirmación de apertura de CDT en operación normal (800 req/h).</a:t>
            </a:r>
          </a:p>
          <a:p>
            <a:pPr algn="l"/>
            <a:r>
              <a:rPr sz="500" b="0">
                <a:solidFill>
                  <a:srgbClr val="212121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12121"/>
                </a:solidFill>
              </a:rPr>
              <a:t>Métrica de éxito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P95 &lt; 800 ms      ·      P99 &lt; 1.500 ms (guardrail)</a:t>
            </a:r>
          </a:p>
          <a:p>
            <a:pPr algn="l"/>
            <a:r>
              <a:rPr sz="500" b="0">
                <a:solidFill>
                  <a:srgbClr val="212121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12121"/>
                </a:solidFill>
              </a:rPr>
              <a:t>Decisión que se valida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Respuesta 202 Accepted tras escribir CDT + outbox.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La reserva real en el core ocurre asíncrona — el cliente no la espera.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48640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ASR-2  ·  Escalabilidad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194560"/>
            <a:ext cx="5303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Estímulo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Lanzamiento de tasa: 6.000 solicitudes en 20 min.</a:t>
            </a:r>
          </a:p>
          <a:p>
            <a:pPr algn="l"/>
            <a:r>
              <a:rPr sz="500" b="0">
                <a:solidFill>
                  <a:srgbClr val="212121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12121"/>
                </a:solidFill>
              </a:rPr>
              <a:t>Métrica de éxito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0 pérdida  ·  P95 estable en ≥18/20 min  ·  DLQ = 0</a:t>
            </a:r>
          </a:p>
          <a:p>
            <a:pPr algn="l"/>
            <a:r>
              <a:rPr sz="500" b="0">
                <a:solidFill>
                  <a:srgbClr val="212121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12121"/>
                </a:solidFill>
              </a:rPr>
              <a:t>Decisión que se valida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Kong absorbe el pico con throttling, broker desacopla del core,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HPA escala en frío, CircuitBreaker protege contra colapso.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00600"/>
            <a:ext cx="11155680" cy="150876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E67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400" b="1">
                <a:solidFill>
                  <a:srgbClr val="212121"/>
                </a:solidFill>
              </a:rPr>
              <a:t>Enfoque: pruebas estocásticas, no carga determinista</a:t>
            </a:r>
          </a:p>
          <a:p>
            <a:pPr algn="ctr"/>
            <a:r>
              <a:rPr sz="1200" b="0">
                <a:solidFill>
                  <a:srgbClr val="212121"/>
                </a:solidFill>
              </a:rPr>
              <a:t>El ASR no se prueba con una sola medición — se prueba con la FORMA de la curva de cumplimiento bajo carga realista.</a:t>
            </a:r>
          </a:p>
          <a:p>
            <a:pPr algn="ctr"/>
            <a:r>
              <a:rPr sz="1200" b="0">
                <a:solidFill>
                  <a:srgbClr val="212121"/>
                </a:solidFill>
              </a:rPr>
              <a:t>Tráfico uniforme a 5 req/s entrega el volumen pero NO valida cold-start del HPA, hot-spotting por país ni resiliencia del CircuitBreaker.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65392"/>
            <a:ext cx="12191695" cy="256032"/>
          </a:xfrm>
          <a:prstGeom prst="rect">
            <a:avLst/>
          </a:prstGeom>
          <a:noFill/>
        </p:spPr>
        <p:txBody>
          <a:bodyPr wrap="none" lIns="411480">
            <a:spAutoFit/>
          </a:bodyPr>
          <a:lstStyle/>
          <a:p>
            <a:pPr algn="l"/>
            <a:r>
              <a:rPr sz="900" i="1">
                <a:solidFill>
                  <a:srgbClr val="90A4AE"/>
                </a:solidFill>
              </a:rPr>
              <a:t>Slide 1 / 3   ·   Experimento ASR-1 / ASR-2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/>
          <a:lstStyle/>
          <a:p>
            <a:pPr algn="l"/>
            <a:r>
              <a:rPr sz="2200" b="1">
                <a:solidFill>
                  <a:srgbClr val="FFFFFF"/>
                </a:solidFill>
              </a:rPr>
              <a:t>Cómo se prueba</a:t>
            </a:r>
          </a:p>
          <a:p>
            <a:pPr algn="l"/>
            <a:r>
              <a:rPr sz="1200" i="1">
                <a:solidFill>
                  <a:srgbClr val="C8D8E8"/>
                </a:solidFill>
              </a:rPr>
              <a:t>Modelo estocástico de carga + stack tecnológico + procedimiento de corrida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</a:rPr>
              <a:t>1.  Modelo estocástico de carga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80160"/>
            <a:ext cx="5486400" cy="0"/>
          </a:xfrm>
          <a:prstGeom prst="line">
            <a:avLst/>
          </a:prstGeom>
          <a:ln w="1905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508760"/>
            <a:ext cx="1417320" cy="713232"/>
          </a:xfrm>
          <a:prstGeom prst="round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NHPP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55448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Curva del lanzamiento λ(t):
onset abrupto → decaimiento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50008"/>
            <a:ext cx="1417320" cy="713232"/>
          </a:xfrm>
          <a:prstGeom prst="roundRect">
            <a:avLst/>
          </a:prstGeom>
          <a:solidFill>
            <a:srgbClr val="00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MMPP-2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395727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Ráfagas correlacionadas
(viralidad, picos &gt; 25 req/s)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91256"/>
            <a:ext cx="1417320" cy="713232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Dirichlet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236976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Sesgo por país
α=(3,1,1) → 60/25/15%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32504"/>
            <a:ext cx="1417320" cy="713232"/>
          </a:xfrm>
          <a:prstGeom prst="roundRect">
            <a:avLst/>
          </a:prstGeom>
          <a:solidFill>
            <a:srgbClr val="E6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078224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Latencia core stub
(cola pesada CICS)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9144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</a:rPr>
              <a:t>2.  Stack tecnológico (paridad local ↔ OCI)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63640" y="1280160"/>
            <a:ext cx="5486400" cy="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80" y="1508760"/>
            <a:ext cx="1463040" cy="32918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Lenguaje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545336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Java 21 LTS + Spring Boot 3.3 + virtual threads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920240"/>
            <a:ext cx="1463040" cy="32918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Resiliencia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956816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Resilience4j 2.2 (CircuitBreaker, Bulkhead, Retry)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331720"/>
            <a:ext cx="1463040" cy="32918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368296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Kong Gateway 3.7 OSS  ↔  OCI API Gateway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743200"/>
            <a:ext cx="1463040" cy="32918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Mensajería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779776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Redpanda 24.2 (Kafka API)  ↔  OCI Streaming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154680"/>
            <a:ext cx="1463040" cy="32918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Persistencia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191256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PostgreSQL 16 + CloudNativePG (1 cluster/país)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566160"/>
            <a:ext cx="1463040" cy="32918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602736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kind v0.23 + K8s 1.30  ↔  OKE 1.30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977639"/>
            <a:ext cx="1463040" cy="32918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Observabilidad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014215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Prometheus + Grafana + Tempo + Loki + OTel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389120"/>
            <a:ext cx="1463040" cy="32918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Carga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425696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k6 v0.53  ·  ramping-arrival-rate  ·  xk6-distribution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7492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</a:rPr>
              <a:t>3.  Procedimiento de corrida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5440680"/>
            <a:ext cx="11247120" cy="0"/>
          </a:xfrm>
          <a:prstGeom prst="line">
            <a:avLst/>
          </a:prstGeom>
          <a:ln w="1905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5532120"/>
            <a:ext cx="3657600" cy="777240"/>
          </a:xfrm>
          <a:prstGeom prst="roundRect">
            <a:avLst/>
          </a:prstGeom>
          <a:solidFill>
            <a:srgbClr val="ECEFF1"/>
          </a:solidFill>
          <a:ln w="9525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212121"/>
                </a:solidFill>
              </a:rPr>
              <a:t>Calentamiento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5 min · 2 req/s constante · alinea JIT y pools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532120"/>
            <a:ext cx="3657600" cy="77724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212121"/>
                </a:solidFill>
              </a:rPr>
              <a:t>Línea base ASR-1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15 min · NHPP λ ≈ 0,22 req/s · valida P95 &lt; 800 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5532120"/>
            <a:ext cx="3657600" cy="77724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212121"/>
                </a:solidFill>
              </a:rPr>
              <a:t>Pico ASR-2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20 min · NHPP+MMPP-2+Dirichlet · valida 6.000 sin pérdida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565392"/>
            <a:ext cx="12191695" cy="256032"/>
          </a:xfrm>
          <a:prstGeom prst="rect">
            <a:avLst/>
          </a:prstGeom>
          <a:noFill/>
        </p:spPr>
        <p:txBody>
          <a:bodyPr wrap="none" lIns="411480">
            <a:spAutoFit/>
          </a:bodyPr>
          <a:lstStyle/>
          <a:p>
            <a:pPr algn="l"/>
            <a:r>
              <a:rPr sz="900" i="1">
                <a:solidFill>
                  <a:srgbClr val="90A4AE"/>
                </a:solidFill>
              </a:rPr>
              <a:t>Slide 2 / 3   ·   Repetido N=5 con seeds independientes para robustez estadística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/>
          <a:lstStyle/>
          <a:p>
            <a:pPr algn="l"/>
            <a:r>
              <a:rPr sz="2200" b="1">
                <a:solidFill>
                  <a:srgbClr val="FFFFFF"/>
                </a:solidFill>
              </a:rPr>
              <a:t>Diagrama del experimento</a:t>
            </a:r>
          </a:p>
          <a:p>
            <a:pPr algn="l"/>
            <a:r>
              <a:rPr sz="1200" i="1">
                <a:solidFill>
                  <a:srgbClr val="C8D8E8"/>
                </a:solidFill>
              </a:rPr>
              <a:t>Topología del flujo crítico de apertura de CDT  +  observabilidad transversal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31920" y="960120"/>
            <a:ext cx="3108960" cy="50292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k6 Generador estocástico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481328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0A4AE"/>
                </a:solidFill>
              </a:rPr>
              <a:t>NHPP + MMPP-2 + Dirichlet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0" y="1755648"/>
            <a:ext cx="0" cy="256032"/>
          </a:xfrm>
          <a:prstGeom prst="line">
            <a:avLst/>
          </a:prstGeom>
          <a:ln w="2540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23560" y="178308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0A4AE"/>
                </a:solidFill>
              </a:rPr>
              <a:t>HTTP / 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011680"/>
            <a:ext cx="3108960" cy="502920"/>
          </a:xfrm>
          <a:prstGeom prst="round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Kong Gateway 3.7 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532888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0A4AE"/>
                </a:solidFill>
              </a:rPr>
              <a:t>rate-limiting · throttling · prometheus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2807208"/>
            <a:ext cx="0" cy="228600"/>
          </a:xfrm>
          <a:prstGeom prst="line">
            <a:avLst/>
          </a:prstGeom>
          <a:ln w="2540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3035808"/>
            <a:ext cx="155448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CDTXPais · 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3035808"/>
            <a:ext cx="155448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CDTXPais · MX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035808"/>
            <a:ext cx="155448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CDTXPais · 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557016"/>
            <a:ext cx="5577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0A4AE"/>
                </a:solidFill>
              </a:rPr>
              <a:t>Spring Boot 3.3 · Java 21 · virtual threads · HPA min=2 max=20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822191"/>
            <a:ext cx="0" cy="201169"/>
          </a:xfrm>
          <a:prstGeom prst="line">
            <a:avLst/>
          </a:prstGeom>
          <a:ln w="1905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0" y="3822191"/>
            <a:ext cx="0" cy="201169"/>
          </a:xfrm>
          <a:prstGeom prst="line">
            <a:avLst/>
          </a:prstGeom>
          <a:ln w="1905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3822191"/>
            <a:ext cx="0" cy="201169"/>
          </a:xfrm>
          <a:prstGeom prst="line">
            <a:avLst/>
          </a:prstGeom>
          <a:ln w="1905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4023360"/>
            <a:ext cx="1554480" cy="502920"/>
          </a:xfrm>
          <a:prstGeom prst="roundRect">
            <a:avLst/>
          </a:prstGeom>
          <a:solidFill>
            <a:srgbClr val="00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Postgres 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4023360"/>
            <a:ext cx="1554480" cy="502920"/>
          </a:xfrm>
          <a:prstGeom prst="roundRect">
            <a:avLst/>
          </a:prstGeom>
          <a:solidFill>
            <a:srgbClr val="00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Postgres MX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023360"/>
            <a:ext cx="1554480" cy="502920"/>
          </a:xfrm>
          <a:prstGeom prst="roundRect">
            <a:avLst/>
          </a:prstGeom>
          <a:solidFill>
            <a:srgbClr val="00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Postgres 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544568"/>
            <a:ext cx="5577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0A4AE"/>
                </a:solidFill>
              </a:rPr>
              <a:t>PostgreSQL 16 · CloudNativePG · schemas: cdt + outbox (transacción ACID conjunta)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7600" y="4736592"/>
            <a:ext cx="1828800" cy="219456"/>
          </a:xfrm>
          <a:prstGeom prst="line">
            <a:avLst/>
          </a:prstGeom>
          <a:ln w="1905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0" y="4736592"/>
            <a:ext cx="0" cy="219456"/>
          </a:xfrm>
          <a:prstGeom prst="line">
            <a:avLst/>
          </a:prstGeom>
          <a:ln w="1905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486400" y="4736592"/>
            <a:ext cx="1828800" cy="219456"/>
          </a:xfrm>
          <a:prstGeom prst="line">
            <a:avLst/>
          </a:prstGeom>
          <a:ln w="1905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74720" y="4956048"/>
            <a:ext cx="4023360" cy="502920"/>
          </a:xfrm>
          <a:prstGeom prst="roundRect">
            <a:avLst/>
          </a:prstGeom>
          <a:solidFill>
            <a:srgbClr val="E6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Redpanda · cdt.eventos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477256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0A4AE"/>
                </a:solidFill>
              </a:rPr>
              <a:t>6 particiones · RF=3 · Apicurio Schema Registry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0" y="5733288"/>
            <a:ext cx="0" cy="182880"/>
          </a:xfrm>
          <a:prstGeom prst="line">
            <a:avLst/>
          </a:prstGeom>
          <a:ln w="25400">
            <a:solidFill>
              <a:srgbClr val="14365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931920" y="5916168"/>
            <a:ext cx="310896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ACL  ·  CircuitBreaker + Bulkhead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960120"/>
            <a:ext cx="1874519" cy="457200"/>
          </a:xfrm>
          <a:prstGeom prst="roundRect">
            <a:avLst/>
          </a:prstGeom>
          <a:solidFill>
            <a:srgbClr val="14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Observabilidad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1554480"/>
            <a:ext cx="1874519" cy="457200"/>
          </a:xfrm>
          <a:prstGeom prst="roundRect">
            <a:avLst/>
          </a:prstGeom>
          <a:solidFill>
            <a:srgbClr val="E3F2FD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1F4E78"/>
                </a:solidFill>
              </a:rPr>
              <a:t>Prometheus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029967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90A4AE"/>
                </a:solidFill>
              </a:rPr>
              <a:t>métricas + histogramas P95/P99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2331720"/>
            <a:ext cx="1874519" cy="457200"/>
          </a:xfrm>
          <a:prstGeom prst="roundRect">
            <a:avLst/>
          </a:prstGeom>
          <a:solidFill>
            <a:srgbClr val="E3F2FD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1F4E78"/>
                </a:solidFill>
              </a:rPr>
              <a:t>Grafana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80720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90A4AE"/>
                </a:solidFill>
              </a:rPr>
              <a:t>dashboards golden signals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3108960"/>
            <a:ext cx="1874519" cy="457200"/>
          </a:xfrm>
          <a:prstGeom prst="roundRect">
            <a:avLst/>
          </a:prstGeom>
          <a:solidFill>
            <a:srgbClr val="E3F2FD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1F4E78"/>
                </a:solidFill>
              </a:rPr>
              <a:t>Tempo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58444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90A4AE"/>
                </a:solidFill>
              </a:rPr>
              <a:t>trazas OTel end-to-end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3886200"/>
            <a:ext cx="1874519" cy="457200"/>
          </a:xfrm>
          <a:prstGeom prst="roundRect">
            <a:avLst/>
          </a:prstGeom>
          <a:solidFill>
            <a:srgbClr val="E3F2FD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1F4E78"/>
                </a:solidFill>
              </a:rPr>
              <a:t>Loki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36168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90A4AE"/>
                </a:solidFill>
              </a:rPr>
              <a:t>logs estructurados JSON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4663440"/>
            <a:ext cx="1874519" cy="457200"/>
          </a:xfrm>
          <a:prstGeom prst="roundRect">
            <a:avLst/>
          </a:prstGeom>
          <a:solidFill>
            <a:srgbClr val="E3F2FD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1F4E78"/>
                </a:solidFill>
              </a:rPr>
              <a:t>OTel Coll.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5138927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90A4AE"/>
                </a:solidFill>
              </a:rPr>
              <a:t>pipeline OTLP unificado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84080" y="960120"/>
            <a:ext cx="0" cy="5303520"/>
          </a:xfrm>
          <a:prstGeom prst="line">
            <a:avLst/>
          </a:prstGeom>
          <a:ln w="6350">
            <a:solidFill>
              <a:srgbClr val="90A4AE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0" y="6565392"/>
            <a:ext cx="12191695" cy="256032"/>
          </a:xfrm>
          <a:prstGeom prst="rect">
            <a:avLst/>
          </a:prstGeom>
          <a:noFill/>
        </p:spPr>
        <p:txBody>
          <a:bodyPr wrap="none" lIns="411480">
            <a:spAutoFit/>
          </a:bodyPr>
          <a:lstStyle/>
          <a:p>
            <a:pPr algn="l"/>
            <a:r>
              <a:rPr sz="900" i="1">
                <a:solidFill>
                  <a:srgbClr val="90A4AE"/>
                </a:solidFill>
              </a:rPr>
              <a:t>Slide 3 / 3   ·   Línea continua = llamada síncrona   ·   Cada componente self-hosted en kind y en OKE (paridad de binario)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